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고정이하여신비율</c:v>
                </c:pt>
              </c:strCache>
            </c:strRef>
          </c:tx>
          <c:spPr>
            <a:solidFill>
              <a:srgbClr val="E07A1F"/>
            </a:solidFill>
            <a:ln>
              <a:solidFill>
                <a:srgbClr val="E07A1F"/>
              </a:solidFill>
            </a:ln>
          </c:spPr>
          <c:cat>
            <c:strRef>
              <c:f>Sheet1!$A$2:$A$3</c:f>
              <c:strCache>
                <c:ptCount val="2"/>
                <c:pt idx="0">
                  <c:v>2025년 3월</c:v>
                </c:pt>
                <c:pt idx="1">
                  <c:v>2026년 3월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24.74</c:v>
                </c:pt>
                <c:pt idx="1">
                  <c:v>21.06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위험가중자산 대비 자기자본비율</c:v>
                </c:pt>
              </c:strCache>
            </c:strRef>
          </c:tx>
          <c:spPr>
            <a:solidFill>
              <a:srgbClr val="2A9D8F"/>
            </a:solidFill>
            <a:ln>
              <a:solidFill>
                <a:srgbClr val="2A9D8F"/>
              </a:solidFill>
            </a:ln>
          </c:spPr>
          <c:cat>
            <c:strRef>
              <c:f>Sheet1!$A$2:$A$3</c:f>
              <c:strCache>
                <c:ptCount val="2"/>
                <c:pt idx="0">
                  <c:v>2025년 3월</c:v>
                </c:pt>
                <c:pt idx="1">
                  <c:v>2026년 3월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8.64</c:v>
                </c:pt>
                <c:pt idx="1">
                  <c:v>9.66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유동성비율</c:v>
                </c:pt>
              </c:strCache>
            </c:strRef>
          </c:tx>
          <c:spPr>
            <a:solidFill>
              <a:srgbClr val="1F3A5F"/>
            </a:solidFill>
            <a:ln>
              <a:solidFill>
                <a:srgbClr val="1F3A5F"/>
              </a:solidFill>
            </a:ln>
          </c:spPr>
          <c:cat>
            <c:strRef>
              <c:f>Sheet1!$A$2:$A$3</c:f>
              <c:strCache>
                <c:ptCount val="2"/>
                <c:pt idx="0">
                  <c:v>2025년 3월</c:v>
                </c:pt>
                <c:pt idx="1">
                  <c:v>2026년 3월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218.34</c:v>
                </c:pt>
                <c:pt idx="1">
                  <c:v>221.6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예대율</c:v>
                </c:pt>
              </c:strCache>
            </c:strRef>
          </c:tx>
          <c:spPr>
            <a:solidFill>
              <a:srgbClr val="E07A1F"/>
            </a:solidFill>
            <a:ln>
              <a:solidFill>
                <a:srgbClr val="E07A1F"/>
              </a:solidFill>
            </a:ln>
          </c:spPr>
          <c:cat>
            <c:strRef>
              <c:f>Sheet1!$A$2:$A$3</c:f>
              <c:strCache>
                <c:ptCount val="2"/>
                <c:pt idx="0">
                  <c:v>2025년 3월</c:v>
                </c:pt>
                <c:pt idx="1">
                  <c:v>2026년 3월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90.55</c:v>
                </c:pt>
                <c:pt idx="1">
                  <c:v>82.87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소액신용대출연체비율</c:v>
                </c:pt>
              </c:strCache>
            </c:strRef>
          </c:tx>
          <c:spPr>
            <a:solidFill>
              <a:srgbClr val="2A9D8F"/>
            </a:solidFill>
            <a:ln>
              <a:solidFill>
                <a:srgbClr val="2A9D8F"/>
              </a:solidFill>
            </a:ln>
          </c:spPr>
          <c:cat>
            <c:strRef>
              <c:f>Sheet1!$A$2:$A$3</c:f>
              <c:strCache>
                <c:ptCount val="2"/>
                <c:pt idx="0">
                  <c:v>2025년 3월</c:v>
                </c:pt>
                <c:pt idx="1">
                  <c:v>2026년 3월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4.94</c:v>
                </c:pt>
                <c:pt idx="1">
                  <c:v>6.83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고정이하여신비율</c:v>
                </c:pt>
              </c:strCache>
            </c:strRef>
          </c:tx>
          <c:spPr>
            <a:solidFill>
              <a:srgbClr val="E07A1F"/>
            </a:solidFill>
            <a:ln>
              <a:solidFill>
                <a:srgbClr val="E07A1F"/>
              </a:solidFill>
            </a:ln>
          </c:spPr>
          <c:cat>
            <c:strRef>
              <c:f>Sheet1!$A$2:$A$3</c:f>
              <c:strCache>
                <c:ptCount val="2"/>
                <c:pt idx="0">
                  <c:v>2025년 3월</c:v>
                </c:pt>
                <c:pt idx="1">
                  <c:v>2026년 3월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24.74</c:v>
                </c:pt>
                <c:pt idx="1">
                  <c:v>21.06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소액신용대출연체비율</c:v>
                </c:pt>
              </c:strCache>
            </c:strRef>
          </c:tx>
          <c:spPr>
            <a:solidFill>
              <a:srgbClr val="2A9D8F"/>
            </a:solidFill>
            <a:ln>
              <a:solidFill>
                <a:srgbClr val="2A9D8F"/>
              </a:solidFill>
            </a:ln>
          </c:spPr>
          <c:cat>
            <c:strRef>
              <c:f>Sheet1!$A$2:$A$3</c:f>
              <c:strCache>
                <c:ptCount val="2"/>
                <c:pt idx="0">
                  <c:v>2025년 3월</c:v>
                </c:pt>
                <c:pt idx="1">
                  <c:v>2026년 3월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4.94</c:v>
                </c:pt>
                <c:pt idx="1">
                  <c:v>6.83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08000"/>
            <a:ext cx="22860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38400" y="2057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algun Gothic Bold"/>
              </a:rPr>
              <a:t>상상인플러스저축은행 리스크 보고서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400" y="34290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 Regular"/>
              </a:rPr>
              <a:t>발표자: 나아영 기자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0" y="279400"/>
            <a:ext cx="1524000" cy="5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3429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algun Gothic Bold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1371600"/>
            <a:ext cx="975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222222"/>
                </a:solidFill>
                <a:latin typeface="Malgun Gothic Regular"/>
              </a:rPr>
              <a:t>1. 서론 - 1페이지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222222"/>
                </a:solidFill>
                <a:latin typeface="Malgun Gothic Regular"/>
              </a:rPr>
              <a:t>2. BIS 비율 분석 - 2페이지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222222"/>
                </a:solidFill>
                <a:latin typeface="Malgun Gothic Regular"/>
              </a:rPr>
              <a:t>3. 자산 건전성 평가 - 3페이지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222222"/>
                </a:solidFill>
                <a:latin typeface="Malgun Gothic Regular"/>
              </a:rPr>
              <a:t>4. 리스크 요인 - 4페이지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222222"/>
                </a:solidFill>
                <a:latin typeface="Malgun Gothic Regular"/>
              </a:rPr>
              <a:t>5. 결론 - 5페이지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35819" y="6476555"/>
            <a:ext cx="121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 Regular"/>
              </a:rPr>
              <a:t>2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476555"/>
            <a:ext cx="609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algun Gothic Regular"/>
              </a:rPr>
              <a:t>여신심사부 · 대외비 · 2026년 3분기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62000" y="1524000"/>
            <a:ext cx="10668000" cy="1016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2000" y="1524000"/>
            <a:ext cx="101599" cy="101600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0" y="279400"/>
            <a:ext cx="1524000" cy="50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371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</a:rPr>
              <a:t>BIS 비율은 안정적이나, 건전성 평가에 한계가 있습니다. 부동산 PF 대출 연체율이 리스크 요소입니다.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400300"/>
            <a:ext cx="109728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</a:rPr>
              <a:t>• BIS 비율 9.66%로 법규상 최소 비율 8% 초과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</a:rPr>
              <a:t>• 부동산 PF 대출 연체율 28.62%로 증가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</a:rPr>
              <a:t>• BIS 비율만으로는 실질적 건전성 평가에 한계 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35819" y="6476555"/>
            <a:ext cx="121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 Regular"/>
              </a:rPr>
              <a:t>3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476555"/>
            <a:ext cx="609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algun Gothic Regular"/>
              </a:rPr>
              <a:t>여신심사부 · 대외비 · 2026년 3분기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0" y="279400"/>
            <a:ext cx="1524000" cy="508000"/>
          </a:xfrm>
          <a:prstGeom prst="rect">
            <a:avLst/>
          </a:prstGeom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9600" y="1371600"/>
          <a:ext cx="67056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248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</a:rPr>
              <a:t>• BIS 비율은 2026년 기준 9.66%로 안정적이나, 실질적 건전성 평가에는 한계가 있음.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</a:rPr>
              <a:t>• 부실채권 비율과 연체율 등 추가적인 리스크 지표 필요.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</a:rPr>
              <a:t>• 2026년 3월말 기준 고정이하여신비율 21.06%, 소액신용대출연체비율 6.83%.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</a:rPr>
              <a:t>• 자산 부실 시 BIS 비율에 반영되는 시차 문제 존재.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35819" y="6476555"/>
            <a:ext cx="121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 Regular"/>
              </a:rPr>
              <a:t>4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476555"/>
            <a:ext cx="609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algun Gothic Regular"/>
              </a:rPr>
              <a:t>여신심사부 · 대외비 · 2026년 3분기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0" y="279400"/>
            <a:ext cx="1524000" cy="5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3429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algun Gothic Bold"/>
              </a:rPr>
              <a:t>포트폴리오 데이터 분석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371600"/>
          <a:ext cx="109728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8985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 Regular"/>
                        </a:rPr>
                        <a:t>구분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 Regular"/>
                        </a:rPr>
                        <a:t>제55기 1분기말 (금분기)(A)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 Regular"/>
                        </a:rPr>
                        <a:t>제54기 1분기말 (전년동기)(B)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 Regular"/>
                        </a:rPr>
                        <a:t>증감(A-B)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고정이하여신비율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21.06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24.74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△3.68</a:t>
                      </a:r>
                    </a:p>
                  </a:txBody>
                  <a:tcPr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위험가중자산에 대한 자기자본비율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9.66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8.64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1.02</a:t>
                      </a:r>
                    </a:p>
                  </a:txBody>
                  <a:tcPr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유동성비율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221.60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218.34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3.26</a:t>
                      </a:r>
                    </a:p>
                  </a:txBody>
                  <a:tcPr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예대율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82.87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90.55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△7.68</a:t>
                      </a:r>
                    </a:p>
                  </a:txBody>
                  <a:tcPr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총자산이익율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△2.04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3.09</a:t>
                      </a:r>
                    </a:p>
                  </a:txBody>
                  <a:tcPr/>
                </a:tc>
              </a:tr>
              <a:tr h="48985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자기자본이익율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13.25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△21.74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34.99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5143500"/>
            <a:ext cx="10972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</a:rPr>
              <a:t>BIS 비율과 리스크 지표 분석 중요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5819" y="6476555"/>
            <a:ext cx="121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 Regular"/>
              </a:rPr>
              <a:t>5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476555"/>
            <a:ext cx="609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algun Gothic Regular"/>
              </a:rPr>
              <a:t>여신심사부 · 대외비 · 2026년 3분기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0" y="279400"/>
            <a:ext cx="1524000" cy="5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3429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algun Gothic Bold"/>
              </a:rPr>
              <a:t>연체율 및 부실채권 비율 분석 보고서 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9600" y="1371600"/>
          <a:ext cx="67056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248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</a:rPr>
              <a:t>• 소액신용대출 연체비율 1.89% 증가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</a:rPr>
              <a:t>• 고정이하여신비율 3.68% 감소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</a:rPr>
              <a:t>• 부동산 PF 대출 연체율 28.62% 기록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</a:rPr>
              <a:t>• BIS 비율 안정성 불구, 부실채권 위험 존재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5819" y="6476555"/>
            <a:ext cx="121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 Regular"/>
              </a:rPr>
              <a:t>6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476555"/>
            <a:ext cx="609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algun Gothic Regular"/>
              </a:rPr>
              <a:t>여신심사부 · 대외비 · 2026년 3분기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0" y="279400"/>
            <a:ext cx="1524000" cy="5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3429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algun Gothic Bold"/>
              </a:rPr>
              <a:t>자본 및 부채 구조 분석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371600"/>
          <a:ext cx="109728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8985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 Regular"/>
                        </a:rPr>
                        <a:t>구분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 Regular"/>
                        </a:rPr>
                        <a:t>제55기 1분기말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 Regular"/>
                        </a:rPr>
                        <a:t>제54기 1분기말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 Regular"/>
                        </a:rPr>
                        <a:t>증감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고정이하여신비율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21.06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24.74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△3.68</a:t>
                      </a:r>
                    </a:p>
                  </a:txBody>
                  <a:tcPr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자기자본비율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9.66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8.64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1.02</a:t>
                      </a:r>
                    </a:p>
                  </a:txBody>
                  <a:tcPr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유동성비율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221.60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218.34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3.26</a:t>
                      </a:r>
                    </a:p>
                  </a:txBody>
                  <a:tcPr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예대율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82.87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90.55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△7.68</a:t>
                      </a:r>
                    </a:p>
                  </a:txBody>
                  <a:tcPr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총자산이익율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△2.04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3.09</a:t>
                      </a:r>
                    </a:p>
                  </a:txBody>
                  <a:tcPr/>
                </a:tc>
              </a:tr>
              <a:tr h="48985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자기자본이익율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13.25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△21.74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</a:rPr>
                        <a:t>34.99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5143500"/>
            <a:ext cx="10972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</a:rPr>
              <a:t>BIS 비율은 안정적이나, 다른 리스크 지표도 중요.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5819" y="6476555"/>
            <a:ext cx="121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 Regular"/>
              </a:rPr>
              <a:t>7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476555"/>
            <a:ext cx="609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algun Gothic Regular"/>
              </a:rPr>
              <a:t>여신심사부 · 대외비 · 2026년 3분기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62000" y="3048000"/>
            <a:ext cx="10668000" cy="1143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2000" y="1651000"/>
            <a:ext cx="10668000" cy="1143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62000" y="4445000"/>
            <a:ext cx="10668000" cy="1142999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62000" y="3048000"/>
            <a:ext cx="101599" cy="1143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62000" y="1651000"/>
            <a:ext cx="101599" cy="1143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62000" y="4445000"/>
            <a:ext cx="101599" cy="114299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0" y="279400"/>
            <a:ext cx="1524000" cy="5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235819" y="6476555"/>
            <a:ext cx="121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 Regular"/>
              </a:rPr>
              <a:t>8 /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476555"/>
            <a:ext cx="609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algun Gothic Regular"/>
              </a:rPr>
              <a:t>여신심사부 · 대외비 · 2026년 3분기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