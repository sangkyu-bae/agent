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BIS 비율</c:v>
                </c:pt>
              </c:strCache>
            </c:strRef>
          </c:tx>
          <c:spPr>
            <a:solidFill>
              <a:srgbClr val="666666"/>
            </a:solidFill>
            <a:ln>
              <a:solidFill>
                <a:srgbClr val="666666"/>
              </a:solidFill>
            </a:ln>
          </c:spPr>
          <c:cat>
            <c:strRef>
              <c:f>Sheet1!$A$2:$A$3</c:f>
              <c:strCache>
                <c:ptCount val="2"/>
                <c:pt idx="0">
                  <c:v>2022 상반기</c:v>
                </c:pt>
                <c:pt idx="1">
                  <c:v>2023 상반기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9.27</c:v>
                </c:pt>
                <c:pt idx="1">
                  <c:v>8.71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BIS 비율 (%)</c:v>
                </c:pt>
              </c:strCache>
            </c:strRef>
          </c:tx>
          <c:spPr>
            <a:solidFill>
              <a:srgbClr val="666666"/>
            </a:solidFill>
            <a:ln>
              <a:solidFill>
                <a:srgbClr val="666666"/>
              </a:solidFill>
            </a:ln>
          </c:spPr>
          <c:cat>
            <c:strRef>
              <c:f>Sheet1!$A$2:$A$3</c:f>
              <c:strCache>
                <c:ptCount val="2"/>
                <c:pt idx="0">
                  <c:v>전년 동기</c:v>
                </c:pt>
                <c:pt idx="1">
                  <c:v>올해 상반기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9.27</c:v>
                </c:pt>
                <c:pt idx="1">
                  <c:v>8.71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438400" y="2057400"/>
            <a:ext cx="7315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FFFFF"/>
                </a:solidFill>
                <a:latin typeface="NanumGothic"/>
              </a:rPr>
              <a:t>상상인플러스 저축은행 BIS 비율 리스크 보고서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438400" y="3429000"/>
            <a:ext cx="7315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FFFFFF"/>
                </a:solidFill>
                <a:latin typeface="NanumGothic"/>
              </a:rPr>
              <a:t>발표자: [발표자 이름]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172200"/>
            <a:ext cx="10972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FFFFFF"/>
                </a:solidFill>
                <a:latin typeface="NanumGothic"/>
              </a:rPr>
              <a:t>리스크 관리부 2023년 10월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A5F"/>
                </a:solidFill>
                <a:latin typeface="NanumGothic"/>
              </a:rPr>
              <a:t>목차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19200" y="1371600"/>
            <a:ext cx="9753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22222"/>
                </a:solidFill>
                <a:latin typeface="NanumGothic"/>
              </a:rPr>
              <a:t>• 서론 - 3페이지</a:t>
            </a:r>
          </a:p>
          <a:p>
            <a:r>
              <a:rPr sz="1300" b="0">
                <a:solidFill>
                  <a:srgbClr val="222222"/>
                </a:solidFill>
                <a:latin typeface="NanumGothic"/>
              </a:rPr>
              <a:t>• BIS 비율 개요 - 4페이지</a:t>
            </a:r>
          </a:p>
          <a:p>
            <a:r>
              <a:rPr sz="1300" b="0">
                <a:solidFill>
                  <a:srgbClr val="222222"/>
                </a:solidFill>
                <a:latin typeface="NanumGothic"/>
              </a:rPr>
              <a:t>• 상상인플러스 BIS 비율 분석 - 5페이지</a:t>
            </a:r>
          </a:p>
          <a:p>
            <a:r>
              <a:rPr sz="1300" b="0">
                <a:solidFill>
                  <a:srgbClr val="222222"/>
                </a:solidFill>
                <a:latin typeface="NanumGothic"/>
              </a:rPr>
              <a:t>• 리스크 관리 전략 - 6페이지</a:t>
            </a:r>
          </a:p>
          <a:p>
            <a:r>
              <a:rPr sz="1300" b="0">
                <a:solidFill>
                  <a:srgbClr val="222222"/>
                </a:solidFill>
                <a:latin typeface="NanumGothic"/>
              </a:rPr>
              <a:t>• 결론 - 7페이지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172200"/>
            <a:ext cx="10972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22222"/>
                </a:solidFill>
                <a:latin typeface="NanumGothic"/>
              </a:rPr>
              <a:t>2 / 7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508000"/>
            <a:ext cx="2286000" cy="76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485120" y="6377940"/>
            <a:ext cx="146304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22222"/>
                </a:solidFill>
                <a:latin typeface="NanumGothic"/>
              </a:rPr>
              <a:t>2 / 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A5F"/>
                </a:solidFill>
                <a:latin typeface="NanumGothic"/>
              </a:rPr>
              <a:t>요약 및 핵심 메시지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716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22222"/>
                </a:solidFill>
                <a:latin typeface="NanumGothic"/>
              </a:rPr>
              <a:t>BIS 비율은 금융 안정성을 측정하는 중요한 지표입니다.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2400300"/>
            <a:ext cx="109728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22222"/>
                </a:solidFill>
                <a:latin typeface="NanumGothic"/>
              </a:rPr>
              <a:t>• 상상인플러스저축은행의 BIS 비율은 8.71%</a:t>
            </a:r>
          </a:p>
          <a:p>
            <a:r>
              <a:rPr sz="1300" b="0">
                <a:solidFill>
                  <a:srgbClr val="222222"/>
                </a:solidFill>
                <a:latin typeface="NanumGothic"/>
              </a:rPr>
              <a:t>• 전년 대비 0.56%포인트 하락</a:t>
            </a:r>
          </a:p>
          <a:p>
            <a:r>
              <a:rPr sz="1300" b="0">
                <a:solidFill>
                  <a:srgbClr val="222222"/>
                </a:solidFill>
                <a:latin typeface="NanumGothic"/>
              </a:rPr>
              <a:t>• BIS 비율은 8% 이상 유지 필요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172200"/>
            <a:ext cx="10972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22222"/>
                </a:solidFill>
                <a:latin typeface="NanumGothic"/>
              </a:rPr>
              <a:t>페이지 3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508000"/>
            <a:ext cx="2286000" cy="76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485120" y="6377940"/>
            <a:ext cx="146304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22222"/>
                </a:solidFill>
                <a:latin typeface="NanumGothic"/>
              </a:rPr>
              <a:t>3 / 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A5F"/>
                </a:solidFill>
                <a:latin typeface="NanumGothic"/>
              </a:rPr>
              <a:t>BIS 비율 추세 분석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09600" y="1371600"/>
          <a:ext cx="6096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0" y="1371600"/>
            <a:ext cx="4267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22222"/>
                </a:solidFill>
                <a:latin typeface="NanumGothic"/>
              </a:rPr>
              <a:t>• 올해 상반기 BIS 비율은 8.71%로 전년 대비 0.56%포인트 하락</a:t>
            </a:r>
          </a:p>
          <a:p>
            <a:r>
              <a:rPr sz="1300" b="0">
                <a:solidFill>
                  <a:srgbClr val="222222"/>
                </a:solidFill>
                <a:latin typeface="NanumGothic"/>
              </a:rPr>
              <a:t>• BIS 비율 8% 이상으로 낮은 편에 속함</a:t>
            </a:r>
          </a:p>
          <a:p>
            <a:r>
              <a:rPr sz="1300" b="0">
                <a:solidFill>
                  <a:srgbClr val="222222"/>
                </a:solidFill>
                <a:latin typeface="NanumGothic"/>
              </a:rPr>
              <a:t>• 비율 하락은 리스크 관리 필요성 증가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172200"/>
            <a:ext cx="10972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22222"/>
                </a:solidFill>
                <a:latin typeface="NanumGothic"/>
              </a:rPr>
              <a:t>페이지 4 / 출처: 경영공시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08000"/>
            <a:ext cx="2286000" cy="76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485120" y="6377940"/>
            <a:ext cx="146304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22222"/>
                </a:solidFill>
                <a:latin typeface="NanumGothic"/>
              </a:rPr>
              <a:t>4 / 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A5F"/>
                </a:solidFill>
                <a:latin typeface="NanumGothic"/>
              </a:rPr>
              <a:t>BIS 비율 비교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600" y="1371600"/>
          <a:ext cx="10972800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486400"/>
              </a:tblGrid>
              <a:tr h="85725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NanumGothic"/>
                        </a:rPr>
                        <a:t>저축은행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  <a:latin typeface="NanumGothic"/>
                        </a:rPr>
                        <a:t>BIS 비율</a:t>
                      </a:r>
                    </a:p>
                  </a:txBody>
                  <a:tcPr>
                    <a:solidFill>
                      <a:srgbClr val="1F3A5F"/>
                    </a:solidFill>
                  </a:tcPr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NanumGothic"/>
                        </a:rPr>
                        <a:t>상상인플러스저축은행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NanumGothic"/>
                        </a:rPr>
                        <a:t>8.71%</a:t>
                      </a:r>
                    </a:p>
                  </a:txBody>
                  <a:tcPr/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NanumGothic"/>
                        </a:rPr>
                        <a:t>신한저축은행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NanumGothic"/>
                        </a:rPr>
                        <a:t>19%</a:t>
                      </a:r>
                    </a:p>
                  </a:txBody>
                  <a:tcPr/>
                </a:tc>
              </a:tr>
              <a:tr h="857250"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NanumGothic"/>
                        </a:rPr>
                        <a:t>머스트삼일저축은행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222222"/>
                          </a:solidFill>
                          <a:latin typeface="NanumGothic"/>
                        </a:rPr>
                        <a:t>8%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5143500"/>
            <a:ext cx="10972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22222"/>
                </a:solidFill>
                <a:latin typeface="NanumGothic"/>
              </a:rPr>
              <a:t>상상인플러스는 상대적으로 낮음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172200"/>
            <a:ext cx="10972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22222"/>
                </a:solidFill>
                <a:latin typeface="NanumGothic"/>
              </a:rPr>
              <a:t>페이지 5/7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508000"/>
            <a:ext cx="2286000" cy="76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485120" y="6377940"/>
            <a:ext cx="146304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22222"/>
                </a:solidFill>
                <a:latin typeface="NanumGothic"/>
              </a:rPr>
              <a:t>5 / 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A5F"/>
                </a:solidFill>
                <a:latin typeface="NanumGothic"/>
              </a:rPr>
              <a:t>BIS 비율 하락 요인 분석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609600" y="1371600"/>
          <a:ext cx="60960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0" y="1371600"/>
            <a:ext cx="4267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22222"/>
                </a:solidFill>
                <a:latin typeface="NanumGothic"/>
              </a:rPr>
              <a:t>• 상상인플러스저축은행의 BIS 비율은 올해 상반기 8.71% 기록</a:t>
            </a:r>
          </a:p>
          <a:p>
            <a:r>
              <a:rPr sz="1300" b="0">
                <a:solidFill>
                  <a:srgbClr val="222222"/>
                </a:solidFill>
                <a:latin typeface="NanumGothic"/>
              </a:rPr>
              <a:t>• 전년 동기 대비 0.56%포인트 하락</a:t>
            </a:r>
          </a:p>
          <a:p>
            <a:r>
              <a:rPr sz="1300" b="0">
                <a:solidFill>
                  <a:srgbClr val="222222"/>
                </a:solidFill>
                <a:latin typeface="NanumGothic"/>
              </a:rPr>
              <a:t>• 대출자산 증대로 위험가중자산 증가 영향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6172200"/>
            <a:ext cx="10972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22222"/>
                </a:solidFill>
                <a:latin typeface="NanumGothic"/>
              </a:rPr>
              <a:t>페이지 6 | 출처: 경영공시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508000"/>
            <a:ext cx="2286000" cy="76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0485120" y="6377940"/>
            <a:ext cx="146304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22222"/>
                </a:solidFill>
                <a:latin typeface="NanumGothic"/>
              </a:rPr>
              <a:t>6 / 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34290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1F3A5F"/>
                </a:solidFill>
                <a:latin typeface="NanumGothic"/>
              </a:rPr>
              <a:t>결론 및 제안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09600" y="13716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222222"/>
                </a:solidFill>
                <a:latin typeface="NanumGothic"/>
              </a:rPr>
              <a:t>• 상상인플러스저축은행의 BIS 비율은 8.71%로 작년 대비 0.56% 하락</a:t>
            </a:r>
          </a:p>
          <a:p>
            <a:r>
              <a:rPr sz="1300" b="0">
                <a:solidFill>
                  <a:srgbClr val="222222"/>
                </a:solidFill>
                <a:latin typeface="NanumGothic"/>
              </a:rPr>
              <a:t>• BIS 비율 하락은 대출자산 증가로 인한 위험가중자산 증가가 주요 원인</a:t>
            </a:r>
          </a:p>
          <a:p>
            <a:r>
              <a:rPr sz="1300" b="0">
                <a:solidFill>
                  <a:srgbClr val="222222"/>
                </a:solidFill>
                <a:latin typeface="NanumGothic"/>
              </a:rPr>
              <a:t>• BIS 비율 개선을 위한 리스크 관리 및 전략적 대책 필요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9600" y="6172200"/>
            <a:ext cx="109728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22222"/>
                </a:solidFill>
                <a:latin typeface="NanumGothic"/>
              </a:rPr>
              <a:t>상상인플러스저축은행 BIS 분석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508000"/>
            <a:ext cx="2286000" cy="76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0485120" y="6377940"/>
            <a:ext cx="146304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222222"/>
                </a:solidFill>
                <a:latin typeface="NanumGothic"/>
              </a:rPr>
              <a:t>7 /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